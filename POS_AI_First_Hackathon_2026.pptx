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02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328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1D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140" dirty="0">
                <a:solidFill>
                  <a:srgbClr val="72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 AI-FIRST · HACKATHON 2026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458200" y="647395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kern="0" spc="120" dirty="0">
                <a:solidFill>
                  <a:srgbClr val="72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KIRO × CÓDIGO FACILITO</a:t>
            </a:r>
            <a:endParaRPr lang="en-US" sz="68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02-A\code\tuts\inbox\assets\pos-ai-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>
              <a:alpha val="6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6537960" cy="6858000"/>
          </a:xfrm>
          <a:prstGeom prst="rect">
            <a:avLst/>
          </a:prstGeom>
          <a:solidFill>
            <a:srgbClr val="07111F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58368" y="676656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FF6B6B">
              <a:alpha val="15000"/>
            </a:srgbClr>
          </a:solidFill>
          <a:ln w="12700">
            <a:solidFill>
              <a:srgbClr val="FF6B6B">
                <a:alpha val="55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694944"/>
            <a:ext cx="13624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2026</a:t>
            </a:r>
            <a:endParaRPr lang="en-US" sz="82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261872"/>
            <a:ext cx="51206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 AI-First</a:t>
            </a:r>
            <a:endParaRPr lang="en-US" sz="3500" dirty="0"/>
          </a:p>
          <a:p>
            <a:pPr marL="0" indent="0" algn="l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</a:t>
            </a:r>
            <a:endParaRPr lang="en-US" sz="3500" dirty="0"/>
          </a:p>
        </p:txBody>
      </p:sp>
      <p:sp>
        <p:nvSpPr>
          <p:cNvPr id="8" name="Text 5"/>
          <p:cNvSpPr txBox="1"/>
          <p:nvPr/>
        </p:nvSpPr>
        <p:spPr>
          <a:xfrm>
            <a:off x="694944" y="2770632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1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 negocio responde preguntas.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94944" y="3401568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punto de venta donde preguntar a tus datos es tan natural como enviar un mensaje.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94944" y="5166360"/>
            <a:ext cx="441655" cy="441655"/>
          </a:xfrm>
          <a:prstGeom prst="ellipse">
            <a:avLst/>
          </a:prstGeom>
          <a:solidFill>
            <a:srgbClr val="31D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0100" y="5366156"/>
            <a:ext cx="231343" cy="0"/>
          </a:xfrm>
          <a:prstGeom prst="line">
            <a:avLst/>
          </a:prstGeom>
          <a:noFill/>
          <a:ln w="29210">
            <a:solidFill>
              <a:srgbClr val="10182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220724" y="5155844"/>
            <a:ext cx="1703527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9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facilito</a:t>
            </a:r>
            <a:endParaRPr lang="en-US" sz="1495" dirty="0"/>
          </a:p>
        </p:txBody>
      </p:sp>
      <p:sp>
        <p:nvSpPr>
          <p:cNvPr id="13" name="Text 10"/>
          <p:cNvSpPr txBox="1"/>
          <p:nvPr/>
        </p:nvSpPr>
        <p:spPr>
          <a:xfrm>
            <a:off x="3029407" y="5197907"/>
            <a:ext cx="273406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10" b="1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610" dirty="0"/>
          </a:p>
        </p:txBody>
      </p:sp>
      <p:sp>
        <p:nvSpPr>
          <p:cNvPr id="14" name="Shape 11"/>
          <p:cNvSpPr/>
          <p:nvPr/>
        </p:nvSpPr>
        <p:spPr>
          <a:xfrm>
            <a:off x="3397453" y="5166360"/>
            <a:ext cx="441655" cy="441655"/>
          </a:xfrm>
          <a:prstGeom prst="roundRect">
            <a:avLst>
              <a:gd name="adj" fmla="val 24845"/>
            </a:avLst>
          </a:prstGeom>
          <a:solidFill>
            <a:srgbClr val="8A5C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02609" y="5282032"/>
            <a:ext cx="73609" cy="7360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70859" y="5282032"/>
            <a:ext cx="73609" cy="7360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954780" y="5155844"/>
            <a:ext cx="757123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kiro</a:t>
            </a:r>
            <a:endParaRPr lang="en-US" sz="1610" dirty="0"/>
          </a:p>
        </p:txBody>
      </p:sp>
      <p:sp>
        <p:nvSpPr>
          <p:cNvPr id="18" name="Text 15"/>
          <p:cNvSpPr txBox="1"/>
          <p:nvPr/>
        </p:nvSpPr>
        <p:spPr>
          <a:xfrm>
            <a:off x="713232" y="57424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Bootcamp Kiro × Código Facilito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1D7FF"/>
          </a:solidFill>
          <a:ln w="12700">
            <a:solidFill>
              <a:srgbClr val="31D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140" dirty="0">
                <a:solidFill>
                  <a:srgbClr val="72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 AI-FIRST · HACKATHON 2026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458200" y="647395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kern="0" spc="120" dirty="0">
                <a:solidFill>
                  <a:srgbClr val="72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KIRO × CÓDIGO FACILITO</a:t>
            </a:r>
            <a:endParaRPr lang="en-US" sz="68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1089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31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PROBLEMA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5836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dueño necesita respuestas, no reportes</a:t>
            </a:r>
            <a:endParaRPr lang="en-US" sz="2700" dirty="0"/>
          </a:p>
        </p:txBody>
      </p:sp>
      <p:pic>
        <p:nvPicPr>
          <p:cNvPr id="7" name="Image 0" descr="D:\02-A\code\tuts\inbox\assets\problem-s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72768"/>
            <a:ext cx="11000232" cy="44074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95528" y="4663440"/>
            <a:ext cx="3154680" cy="987552"/>
          </a:xfrm>
          <a:prstGeom prst="roundRect">
            <a:avLst/>
          </a:prstGeom>
          <a:solidFill>
            <a:srgbClr val="101827">
              <a:alpha val="96000"/>
            </a:srgbClr>
          </a:solidFill>
          <a:ln w="17780">
            <a:solidFill>
              <a:srgbClr val="FF6B6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" y="4864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“¿Qué vendí hoy?”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5212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Excel. Sin analista. Sin espera.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799832" y="4663440"/>
            <a:ext cx="3154680" cy="987552"/>
          </a:xfrm>
          <a:prstGeom prst="roundRect">
            <a:avLst/>
          </a:prstGeom>
          <a:solidFill>
            <a:srgbClr val="FFFFFF">
              <a:alpha val="98000"/>
            </a:srgbClr>
          </a:solidFill>
          <a:ln w="17780">
            <a:solidFill>
              <a:srgbClr val="31D7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46720" y="48554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inmediata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52120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260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claros, en lenguaje natural.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1D7FF"/>
          </a:solidFill>
          <a:ln w="12700">
            <a:solidFill>
              <a:srgbClr val="31D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140" dirty="0">
                <a:solidFill>
                  <a:srgbClr val="72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 AI-FIRST · HACKATHON 2026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458200" y="647395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kern="0" spc="120" dirty="0">
                <a:solidFill>
                  <a:srgbClr val="72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KIRO × CÓDIGO FACILITO</a:t>
            </a:r>
            <a:endParaRPr lang="en-US" sz="68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1089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31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SOLUCIÓN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5836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en español. Obtén respuestas de tus datos.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85216" y="12618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NL→SQL seguro, rápido y pensado para pequeños negocios.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3504" y="1920240"/>
            <a:ext cx="2395728" cy="2331720"/>
          </a:xfrm>
          <a:prstGeom prst="roundRect">
            <a:avLst>
              <a:gd name="adj" fmla="val 6275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2103120"/>
            <a:ext cx="530352" cy="274320"/>
          </a:xfrm>
          <a:prstGeom prst="roundRect">
            <a:avLst>
              <a:gd name="adj" fmla="val 50000"/>
            </a:avLst>
          </a:prstGeom>
          <a:solidFill>
            <a:srgbClr val="8A5CFF">
              <a:alpha val="15000"/>
            </a:srgbClr>
          </a:solidFill>
          <a:ln w="12700">
            <a:solidFill>
              <a:srgbClr val="8A5CFF">
                <a:alpha val="55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2121408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8A5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2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258775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2990088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producto se vendió más?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035808" y="3090672"/>
            <a:ext cx="329184" cy="0"/>
          </a:xfrm>
          <a:prstGeom prst="line">
            <a:avLst/>
          </a:prstGeom>
          <a:noFill/>
          <a:ln w="21590">
            <a:solidFill>
              <a:srgbClr val="31D7FF">
                <a:alpha val="9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465576" y="1920240"/>
            <a:ext cx="2395728" cy="2331720"/>
          </a:xfrm>
          <a:prstGeom prst="roundRect">
            <a:avLst>
              <a:gd name="adj" fmla="val 6275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30168" y="2103120"/>
            <a:ext cx="530352" cy="274320"/>
          </a:xfrm>
          <a:prstGeom prst="roundRect">
            <a:avLst>
              <a:gd name="adj" fmla="val 50000"/>
            </a:avLst>
          </a:prstGeom>
          <a:solidFill>
            <a:srgbClr val="8A5CFF">
              <a:alpha val="15000"/>
            </a:srgbClr>
          </a:solidFill>
          <a:ln w="12700">
            <a:solidFill>
              <a:srgbClr val="8A5CFF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03320" y="2121408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8A5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20" dirty="0"/>
          </a:p>
        </p:txBody>
      </p:sp>
      <p:sp>
        <p:nvSpPr>
          <p:cNvPr id="17" name="Text 15"/>
          <p:cNvSpPr txBox="1"/>
          <p:nvPr/>
        </p:nvSpPr>
        <p:spPr>
          <a:xfrm>
            <a:off x="3630168" y="258775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630168" y="2990088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 SQL seguro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897880" y="3090672"/>
            <a:ext cx="329184" cy="0"/>
          </a:xfrm>
          <a:prstGeom prst="line">
            <a:avLst/>
          </a:prstGeom>
          <a:noFill/>
          <a:ln w="21590">
            <a:solidFill>
              <a:srgbClr val="31D7FF">
                <a:alpha val="9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27648" y="1920240"/>
            <a:ext cx="2395728" cy="2331720"/>
          </a:xfrm>
          <a:prstGeom prst="roundRect">
            <a:avLst>
              <a:gd name="adj" fmla="val 6275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2103120"/>
            <a:ext cx="530352" cy="274320"/>
          </a:xfrm>
          <a:prstGeom prst="roundRect">
            <a:avLst>
              <a:gd name="adj" fmla="val 50000"/>
            </a:avLst>
          </a:prstGeom>
          <a:solidFill>
            <a:srgbClr val="8A5CFF">
              <a:alpha val="15000"/>
            </a:srgbClr>
          </a:solidFill>
          <a:ln w="12700">
            <a:solidFill>
              <a:srgbClr val="8A5CFF">
                <a:alpha val="5500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65392" y="2121408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8A5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2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258775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2990088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read-only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759952" y="3090672"/>
            <a:ext cx="329184" cy="0"/>
          </a:xfrm>
          <a:prstGeom prst="line">
            <a:avLst/>
          </a:prstGeom>
          <a:noFill/>
          <a:ln w="21590">
            <a:solidFill>
              <a:srgbClr val="31D7FF">
                <a:alpha val="9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189720" y="1920240"/>
            <a:ext cx="2395728" cy="2331720"/>
          </a:xfrm>
          <a:prstGeom prst="roundRect">
            <a:avLst>
              <a:gd name="adj" fmla="val 6275"/>
            </a:avLst>
          </a:prstGeom>
          <a:solidFill>
            <a:srgbClr val="12283A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54312" y="2103120"/>
            <a:ext cx="530352" cy="274320"/>
          </a:xfrm>
          <a:prstGeom prst="roundRect">
            <a:avLst>
              <a:gd name="adj" fmla="val 50000"/>
            </a:avLst>
          </a:prstGeom>
          <a:solidFill>
            <a:srgbClr val="55E6A5">
              <a:alpha val="15000"/>
            </a:srgbClr>
          </a:solidFill>
          <a:ln w="12700">
            <a:solidFill>
              <a:srgbClr val="55E6A5">
                <a:alpha val="55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427464" y="2121408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55E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20" dirty="0"/>
          </a:p>
        </p:txBody>
      </p:sp>
      <p:sp>
        <p:nvSpPr>
          <p:cNvPr id="29" name="Text 27"/>
          <p:cNvSpPr txBox="1"/>
          <p:nvPr/>
        </p:nvSpPr>
        <p:spPr>
          <a:xfrm>
            <a:off x="9354312" y="258775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354312" y="2990088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en español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865376" y="4681728"/>
            <a:ext cx="8458200" cy="768096"/>
          </a:xfrm>
          <a:prstGeom prst="roundRect">
            <a:avLst>
              <a:gd name="adj" fmla="val 19048"/>
            </a:avLst>
          </a:prstGeom>
          <a:solidFill>
            <a:srgbClr val="0B192A"/>
          </a:solidFill>
          <a:ln w="12700">
            <a:solidFill>
              <a:srgbClr val="31D7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121408" y="48920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“¿Qué vendí hoy?”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160520" y="48920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A5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4718304" y="4892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5E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Vendiste $12,480 en 37 operaciones.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1D7FF"/>
          </a:solidFill>
          <a:ln w="12700">
            <a:solidFill>
              <a:srgbClr val="31D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140" dirty="0">
                <a:solidFill>
                  <a:srgbClr val="72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 AI-FIRST · HACKATHON 2026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458200" y="647395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kern="0" spc="120" dirty="0">
                <a:solidFill>
                  <a:srgbClr val="72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KIRO × CÓDIGO FACILITO</a:t>
            </a:r>
            <a:endParaRPr lang="en-US" sz="68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1089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31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RETO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5836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MVP funcional en 5 días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85216" y="12618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Impacto + innovación + software real + uso de AWS y Kiro.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051560" y="2852928"/>
            <a:ext cx="10030968" cy="0"/>
          </a:xfrm>
          <a:prstGeom prst="line">
            <a:avLst/>
          </a:prstGeom>
          <a:noFill/>
          <a:ln w="21590">
            <a:solidFill>
              <a:srgbClr val="8A5CFF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645920" y="2688336"/>
            <a:ext cx="310896" cy="310896"/>
          </a:xfrm>
          <a:prstGeom prst="ellipse">
            <a:avLst/>
          </a:prstGeom>
          <a:solidFill>
            <a:srgbClr val="31D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572768" y="272491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0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</a:t>
            </a:r>
            <a:endParaRPr lang="en-US" sz="7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2735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363016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86200" y="2688336"/>
            <a:ext cx="310896" cy="310896"/>
          </a:xfrm>
          <a:prstGeom prst="ellipse">
            <a:avLst/>
          </a:prstGeom>
          <a:solidFill>
            <a:srgbClr val="31D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13048" y="272491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0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2953512" y="32735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Construir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953512" y="363016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POS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2688336"/>
            <a:ext cx="310896" cy="310896"/>
          </a:xfrm>
          <a:prstGeom prst="ellipse">
            <a:avLst/>
          </a:prstGeom>
          <a:solidFill>
            <a:srgbClr val="31D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53328" y="272491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0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D3</a:t>
            </a:r>
            <a:endParaRPr lang="en-US" sz="700" dirty="0"/>
          </a:p>
        </p:txBody>
      </p:sp>
      <p:sp>
        <p:nvSpPr>
          <p:cNvPr id="19" name="Text 17"/>
          <p:cNvSpPr txBox="1"/>
          <p:nvPr/>
        </p:nvSpPr>
        <p:spPr>
          <a:xfrm>
            <a:off x="5193792" y="32735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Diferenciar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193792" y="363016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AI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366760" y="2688336"/>
            <a:ext cx="310896" cy="310896"/>
          </a:xfrm>
          <a:prstGeom prst="ellipse">
            <a:avLst/>
          </a:prstGeom>
          <a:solidFill>
            <a:srgbClr val="31D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93608" y="272491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0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D4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7434072" y="32735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Asegurar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434072" y="363016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607040" y="2688336"/>
            <a:ext cx="310896" cy="310896"/>
          </a:xfrm>
          <a:prstGeom prst="ellipse">
            <a:avLst/>
          </a:prstGeom>
          <a:solidFill>
            <a:srgbClr val="55E6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533888" y="272491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0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D5</a:t>
            </a:r>
            <a:endParaRPr lang="en-US" sz="700" dirty="0"/>
          </a:p>
        </p:txBody>
      </p:sp>
      <p:sp>
        <p:nvSpPr>
          <p:cNvPr id="27" name="Text 25"/>
          <p:cNvSpPr txBox="1"/>
          <p:nvPr/>
        </p:nvSpPr>
        <p:spPr>
          <a:xfrm>
            <a:off x="9674352" y="32735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Desplegar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674352" y="363016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4690872"/>
            <a:ext cx="2542032" cy="1078992"/>
          </a:xfrm>
          <a:prstGeom prst="roundRect">
            <a:avLst>
              <a:gd name="adj" fmla="val 13559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96112" y="4855464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31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30%</a:t>
            </a:r>
            <a:endParaRPr lang="en-US" sz="2500" dirty="0"/>
          </a:p>
        </p:txBody>
      </p:sp>
      <p:sp>
        <p:nvSpPr>
          <p:cNvPr id="31" name="Text 29"/>
          <p:cNvSpPr txBox="1"/>
          <p:nvPr/>
        </p:nvSpPr>
        <p:spPr>
          <a:xfrm>
            <a:off x="896112" y="537667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584448" y="4690872"/>
            <a:ext cx="2542032" cy="1078992"/>
          </a:xfrm>
          <a:prstGeom prst="roundRect">
            <a:avLst>
              <a:gd name="adj" fmla="val 13559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749040" y="4855464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8A5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30%</a:t>
            </a:r>
            <a:endParaRPr lang="en-US" sz="2500" dirty="0"/>
          </a:p>
        </p:txBody>
      </p:sp>
      <p:sp>
        <p:nvSpPr>
          <p:cNvPr id="34" name="Text 32"/>
          <p:cNvSpPr txBox="1"/>
          <p:nvPr/>
        </p:nvSpPr>
        <p:spPr>
          <a:xfrm>
            <a:off x="3749040" y="537667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Innovación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37376" y="4690872"/>
            <a:ext cx="2542032" cy="1078992"/>
          </a:xfrm>
          <a:prstGeom prst="roundRect">
            <a:avLst>
              <a:gd name="adj" fmla="val 13559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601968" y="4855464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30%</a:t>
            </a:r>
            <a:endParaRPr lang="en-US" sz="2500" dirty="0"/>
          </a:p>
        </p:txBody>
      </p:sp>
      <p:sp>
        <p:nvSpPr>
          <p:cNvPr id="37" name="Text 35"/>
          <p:cNvSpPr txBox="1"/>
          <p:nvPr/>
        </p:nvSpPr>
        <p:spPr>
          <a:xfrm>
            <a:off x="6601968" y="537667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290304" y="4690872"/>
            <a:ext cx="2542032" cy="1078992"/>
          </a:xfrm>
          <a:prstGeom prst="roundRect">
            <a:avLst>
              <a:gd name="adj" fmla="val 13559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454896" y="4855464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55E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2500" dirty="0"/>
          </a:p>
        </p:txBody>
      </p:sp>
      <p:sp>
        <p:nvSpPr>
          <p:cNvPr id="40" name="Text 38"/>
          <p:cNvSpPr txBox="1"/>
          <p:nvPr/>
        </p:nvSpPr>
        <p:spPr>
          <a:xfrm>
            <a:off x="9454896" y="537667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+ Kiro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1D7FF"/>
          </a:solidFill>
          <a:ln w="12700">
            <a:solidFill>
              <a:srgbClr val="31D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140" dirty="0">
                <a:solidFill>
                  <a:srgbClr val="72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 AI-FIRST · HACKATHON 2026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458200" y="647395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kern="0" spc="120" dirty="0">
                <a:solidFill>
                  <a:srgbClr val="72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KIRO × CÓDIGO FACILITO</a:t>
            </a:r>
            <a:endParaRPr lang="en-US" sz="68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1089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31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DECISIÓN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5836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3 ideas a 1 MVP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85216" y="12618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elección fue estratégica, no intuitiva.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86384" y="1828800"/>
            <a:ext cx="3246120" cy="3346704"/>
          </a:xfrm>
          <a:prstGeom prst="roundRect">
            <a:avLst>
              <a:gd name="adj" fmla="val 4507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7552" y="2048256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A7B3C7">
              <a:alpha val="15000"/>
            </a:srgbClr>
          </a:solidFill>
          <a:ln w="12700">
            <a:solidFill>
              <a:srgbClr val="A7B3C7">
                <a:alpha val="55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60704" y="2066544"/>
            <a:ext cx="8778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CANDIDATO</a:t>
            </a:r>
            <a:endParaRPr lang="en-US" sz="820" dirty="0"/>
          </a:p>
        </p:txBody>
      </p:sp>
      <p:sp>
        <p:nvSpPr>
          <p:cNvPr id="11" name="Text 9"/>
          <p:cNvSpPr txBox="1"/>
          <p:nvPr/>
        </p:nvSpPr>
        <p:spPr>
          <a:xfrm>
            <a:off x="987552" y="253288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A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987552" y="324612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Viabilidad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798064" y="324612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87552" y="382219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Impacto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798064" y="382219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08576" y="1828800"/>
            <a:ext cx="3246120" cy="3346704"/>
          </a:xfrm>
          <a:prstGeom prst="roundRect">
            <a:avLst>
              <a:gd name="adj" fmla="val 4507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9744" y="2048256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A7B3C7">
              <a:alpha val="15000"/>
            </a:srgbClr>
          </a:solidFill>
          <a:ln w="12700">
            <a:solidFill>
              <a:srgbClr val="A7B3C7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82896" y="2066544"/>
            <a:ext cx="8778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CANDIDATO</a:t>
            </a:r>
            <a:endParaRPr lang="en-US" sz="820" dirty="0"/>
          </a:p>
        </p:txBody>
      </p:sp>
      <p:sp>
        <p:nvSpPr>
          <p:cNvPr id="19" name="Text 17"/>
          <p:cNvSpPr txBox="1"/>
          <p:nvPr/>
        </p:nvSpPr>
        <p:spPr>
          <a:xfrm>
            <a:off x="4809744" y="253288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B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4809744" y="324612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Viabilidad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620256" y="324612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809744" y="382219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Impacto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620256" y="382219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430768" y="1828800"/>
            <a:ext cx="3246120" cy="3346704"/>
          </a:xfrm>
          <a:prstGeom prst="roundRect">
            <a:avLst>
              <a:gd name="adj" fmla="val 4507"/>
            </a:avLst>
          </a:prstGeom>
          <a:solidFill>
            <a:srgbClr val="132941"/>
          </a:solidFill>
          <a:ln w="12700">
            <a:solidFill>
              <a:srgbClr val="31D7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31936" y="2048256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55E6A5">
              <a:alpha val="15000"/>
            </a:srgbClr>
          </a:solidFill>
          <a:ln w="12700">
            <a:solidFill>
              <a:srgbClr val="55E6A5">
                <a:alpha val="5500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705088" y="2066544"/>
            <a:ext cx="8778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55E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ELEGIDO</a:t>
            </a:r>
            <a:endParaRPr lang="en-US" sz="820" dirty="0"/>
          </a:p>
        </p:txBody>
      </p:sp>
      <p:sp>
        <p:nvSpPr>
          <p:cNvPr id="27" name="Text 25"/>
          <p:cNvSpPr txBox="1"/>
          <p:nvPr/>
        </p:nvSpPr>
        <p:spPr>
          <a:xfrm>
            <a:off x="8631936" y="253288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 AI-First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8631936" y="324612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Viabilidad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0442448" y="324612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5E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Alta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631936" y="382219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Impacto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442448" y="382219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5E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Alto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631936" y="44074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1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PYMES + NL→SQL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216152" y="5577840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Decisión documentada: bootcamp-analysis.md · Deeper-analysis.md · constitution.md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1D7FF"/>
          </a:solidFill>
          <a:ln w="12700">
            <a:solidFill>
              <a:srgbClr val="31D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140" dirty="0">
                <a:solidFill>
                  <a:srgbClr val="72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 AI-FIRST · HACKATHON 2026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458200" y="647395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kern="0" spc="120" dirty="0">
                <a:solidFill>
                  <a:srgbClr val="72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KIRO × CÓDIGO FACILITO</a:t>
            </a:r>
            <a:endParaRPr lang="en-US" sz="68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1089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31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FASE 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5836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Investigar antes de construir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85216" y="12618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Entender el problema redujo el riesgo del MVP.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9808" y="1783080"/>
            <a:ext cx="10698480" cy="749808"/>
          </a:xfrm>
          <a:prstGeom prst="roundRect">
            <a:avLst>
              <a:gd name="adj" fmla="val 19512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002536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8A5CFF">
              <a:alpha val="15000"/>
            </a:srgbClr>
          </a:solidFill>
          <a:ln w="12700">
            <a:solidFill>
              <a:srgbClr val="8A5CFF">
                <a:alpha val="55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33272" y="2020824"/>
            <a:ext cx="356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8A5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20" dirty="0"/>
          </a:p>
        </p:txBody>
      </p:sp>
      <p:sp>
        <p:nvSpPr>
          <p:cNvPr id="11" name="Text 9"/>
          <p:cNvSpPr txBox="1"/>
          <p:nvPr/>
        </p:nvSpPr>
        <p:spPr>
          <a:xfrm>
            <a:off x="1700784" y="194767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315968" y="1947672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 existentes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9808" y="2770632"/>
            <a:ext cx="10698480" cy="749808"/>
          </a:xfrm>
          <a:prstGeom prst="roundRect">
            <a:avLst>
              <a:gd name="adj" fmla="val 19512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2990088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8A5CFF">
              <a:alpha val="15000"/>
            </a:srgbClr>
          </a:solidFill>
          <a:ln w="12700">
            <a:solidFill>
              <a:srgbClr val="8A5CFF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33272" y="3008376"/>
            <a:ext cx="356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8A5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20" dirty="0"/>
          </a:p>
        </p:txBody>
      </p:sp>
      <p:sp>
        <p:nvSpPr>
          <p:cNvPr id="16" name="Text 14"/>
          <p:cNvSpPr txBox="1"/>
          <p:nvPr/>
        </p:nvSpPr>
        <p:spPr>
          <a:xfrm>
            <a:off x="1700784" y="293522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Pre-análisis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315968" y="2935224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Diferenciadores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9808" y="3758184"/>
            <a:ext cx="10698480" cy="749808"/>
          </a:xfrm>
          <a:prstGeom prst="roundRect">
            <a:avLst>
              <a:gd name="adj" fmla="val 19512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" y="3977640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8A5CFF">
              <a:alpha val="15000"/>
            </a:srgbClr>
          </a:solidFill>
          <a:ln w="12700">
            <a:solidFill>
              <a:srgbClr val="8A5CFF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33272" y="3995928"/>
            <a:ext cx="356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8A5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20" dirty="0"/>
          </a:p>
        </p:txBody>
      </p:sp>
      <p:sp>
        <p:nvSpPr>
          <p:cNvPr id="21" name="Text 19"/>
          <p:cNvSpPr txBox="1"/>
          <p:nvPr/>
        </p:nvSpPr>
        <p:spPr>
          <a:xfrm>
            <a:off x="1700784" y="392277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Constitution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315968" y="3922776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 y no-goals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49808" y="4745736"/>
            <a:ext cx="10698480" cy="749808"/>
          </a:xfrm>
          <a:prstGeom prst="roundRect">
            <a:avLst>
              <a:gd name="adj" fmla="val 19512"/>
            </a:avLst>
          </a:prstGeom>
          <a:solidFill>
            <a:srgbClr val="10263B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" y="4965192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55E6A5">
              <a:alpha val="15000"/>
            </a:srgbClr>
          </a:solidFill>
          <a:ln w="12700">
            <a:solidFill>
              <a:srgbClr val="55E6A5">
                <a:alpha val="5500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33272" y="4983480"/>
            <a:ext cx="356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55E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20" dirty="0"/>
          </a:p>
        </p:txBody>
      </p:sp>
      <p:sp>
        <p:nvSpPr>
          <p:cNvPr id="26" name="Text 24"/>
          <p:cNvSpPr txBox="1"/>
          <p:nvPr/>
        </p:nvSpPr>
        <p:spPr>
          <a:xfrm>
            <a:off x="1700784" y="491032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Wayfinder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4315968" y="4910328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tickets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233672" y="589788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31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CONCEPTOS &gt; CÓDIGO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1D7FF"/>
          </a:solidFill>
          <a:ln w="12700">
            <a:solidFill>
              <a:srgbClr val="31D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140" dirty="0">
                <a:solidFill>
                  <a:srgbClr val="72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 AI-FIRST · HACKATHON 2026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458200" y="647395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kern="0" spc="120" dirty="0">
                <a:solidFill>
                  <a:srgbClr val="72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KIRO × CÓDIGO FACILITO</a:t>
            </a:r>
            <a:endParaRPr lang="en-US" sz="68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1089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31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· KIRO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5836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autocomplete. Es un sistema de trabajo.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749808" y="1627632"/>
            <a:ext cx="5166360" cy="1664208"/>
          </a:xfrm>
          <a:prstGeom prst="roundRect">
            <a:avLst>
              <a:gd name="adj" fmla="val 8791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6696" y="1947672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31D7FF">
              <a:alpha val="88000"/>
            </a:srgbClr>
          </a:solidFill>
          <a:ln w="15240">
            <a:solidFill>
              <a:srgbClr val="31D7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96696" y="1993392"/>
            <a:ext cx="4754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709928" y="18836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709928" y="237744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 → Design → Tasks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7648" y="1627632"/>
            <a:ext cx="5166360" cy="1664208"/>
          </a:xfrm>
          <a:prstGeom prst="roundRect">
            <a:avLst>
              <a:gd name="adj" fmla="val 8791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74536" y="1947672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8A5CFF">
              <a:alpha val="88000"/>
            </a:srgbClr>
          </a:solidFill>
          <a:ln w="15240">
            <a:solidFill>
              <a:srgbClr val="8A5C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74536" y="1993392"/>
            <a:ext cx="4754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287768" y="18836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Steering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287768" y="237744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 persistentes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9808" y="3675888"/>
            <a:ext cx="5166360" cy="1664208"/>
          </a:xfrm>
          <a:prstGeom prst="roundRect">
            <a:avLst>
              <a:gd name="adj" fmla="val 8791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6696" y="3995928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FF6B6B">
              <a:alpha val="88000"/>
            </a:srgbClr>
          </a:solidFill>
          <a:ln w="1524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96696" y="4041648"/>
            <a:ext cx="4754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709928" y="3931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Powers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709928" y="442569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Memoria + contexto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27648" y="3675888"/>
            <a:ext cx="5166360" cy="1664208"/>
          </a:xfrm>
          <a:prstGeom prst="roundRect">
            <a:avLst>
              <a:gd name="adj" fmla="val 8791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74536" y="3995928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55E6A5">
              <a:alpha val="88000"/>
            </a:srgbClr>
          </a:solidFill>
          <a:ln w="15240">
            <a:solidFill>
              <a:srgbClr val="55E6A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74536" y="4041648"/>
            <a:ext cx="4754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287768" y="3931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Hooks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287768" y="442569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Automatización continua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907792" y="5596128"/>
            <a:ext cx="6382512" cy="530352"/>
          </a:xfrm>
          <a:prstGeom prst="roundRect">
            <a:avLst>
              <a:gd name="adj" fmla="val 27586"/>
            </a:avLst>
          </a:prstGeom>
          <a:solidFill>
            <a:srgbClr val="10243A"/>
          </a:solidFill>
          <a:ln w="12700">
            <a:solidFill>
              <a:srgbClr val="31D7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108960" y="5742432"/>
            <a:ext cx="5989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1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DAG → waves paralelas sin conflictos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1D7FF"/>
          </a:solidFill>
          <a:ln w="12700">
            <a:solidFill>
              <a:srgbClr val="31D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140" dirty="0">
                <a:solidFill>
                  <a:srgbClr val="72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 AI-FIRST · HACKATHON 2026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458200" y="647395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kern="0" spc="120" dirty="0">
                <a:solidFill>
                  <a:srgbClr val="72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KIRO × CÓDIGO FACILITO</a:t>
            </a:r>
            <a:endParaRPr lang="en-US" sz="68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1089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31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· STEERING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5836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proyecto se mantiene consistente, sesión tras sesión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713232" y="1664208"/>
            <a:ext cx="5303520" cy="987552"/>
          </a:xfrm>
          <a:prstGeom prst="roundRect">
            <a:avLst>
              <a:gd name="adj" fmla="val 14815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" y="1920240"/>
            <a:ext cx="201168" cy="201168"/>
          </a:xfrm>
          <a:prstGeom prst="ellipse">
            <a:avLst/>
          </a:prstGeom>
          <a:solidFill>
            <a:srgbClr val="31D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18470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architecture.md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203704"/>
            <a:ext cx="4370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Hexagonal ligera · SOLID práctico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28232" y="1664208"/>
            <a:ext cx="5303520" cy="987552"/>
          </a:xfrm>
          <a:prstGeom prst="roundRect">
            <a:avLst>
              <a:gd name="adj" fmla="val 14815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65976" y="1920240"/>
            <a:ext cx="201168" cy="201168"/>
          </a:xfrm>
          <a:prstGeom prst="ellipse">
            <a:avLst/>
          </a:prstGeom>
          <a:solidFill>
            <a:srgbClr val="8A5C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95160" y="18470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testing.md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2203704"/>
            <a:ext cx="4370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TDD en auth, inventario y NL→SQL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3232" y="2990088"/>
            <a:ext cx="5303520" cy="987552"/>
          </a:xfrm>
          <a:prstGeom prst="roundRect">
            <a:avLst>
              <a:gd name="adj" fmla="val 14815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0976" y="3246120"/>
            <a:ext cx="201168" cy="201168"/>
          </a:xfrm>
          <a:prstGeom prst="ellipse">
            <a:avLst/>
          </a:prstGeom>
          <a:solidFill>
            <a:srgbClr val="55E6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80160" y="3172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security.md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529584"/>
            <a:ext cx="4370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Whitelist SQL · bcrypt · read-only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28232" y="2990088"/>
            <a:ext cx="5303520" cy="987552"/>
          </a:xfrm>
          <a:prstGeom prst="roundRect">
            <a:avLst>
              <a:gd name="adj" fmla="val 14815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65976" y="3246120"/>
            <a:ext cx="201168" cy="201168"/>
          </a:xfrm>
          <a:prstGeom prst="ellipse">
            <a:avLst/>
          </a:prstGeom>
          <a:solidFill>
            <a:srgbClr val="31D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95160" y="3172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quality.md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3529584"/>
            <a:ext cx="4370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Lint · funciones pequeñas · errores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3232" y="4315968"/>
            <a:ext cx="5303520" cy="987552"/>
          </a:xfrm>
          <a:prstGeom prst="roundRect">
            <a:avLst>
              <a:gd name="adj" fmla="val 14815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0976" y="4572000"/>
            <a:ext cx="201168" cy="201168"/>
          </a:xfrm>
          <a:prstGeom prst="ellipse">
            <a:avLst/>
          </a:prstGeom>
          <a:solidFill>
            <a:srgbClr val="8A5C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280160" y="4498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project-conventions.md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4855464"/>
            <a:ext cx="4370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 · dependencias · commits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28232" y="4315968"/>
            <a:ext cx="5303520" cy="987552"/>
          </a:xfrm>
          <a:prstGeom prst="roundRect">
            <a:avLst>
              <a:gd name="adj" fmla="val 14815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65976" y="4572000"/>
            <a:ext cx="201168" cy="201168"/>
          </a:xfrm>
          <a:prstGeom prst="ellipse">
            <a:avLst/>
          </a:prstGeom>
          <a:solidFill>
            <a:srgbClr val="55E6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95160" y="4498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design-patterns.md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995160" y="4855464"/>
            <a:ext cx="4370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Pragmatismo · anti-sobreingeniería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2057400" y="587044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1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Kiro carga las reglas automáticamente. No hay que repetirlas.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1D7FF"/>
          </a:solidFill>
          <a:ln w="12700">
            <a:solidFill>
              <a:srgbClr val="31D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140" dirty="0">
                <a:solidFill>
                  <a:srgbClr val="72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 AI-FIRST · HACKATHON 2026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458200" y="647395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kern="0" spc="120" dirty="0">
                <a:solidFill>
                  <a:srgbClr val="72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KIRO × CÓDIGO FACILITO</a:t>
            </a:r>
            <a:endParaRPr lang="en-US" sz="68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1089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31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· POWER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5836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Long-Term Memory: el proyecto nunca olvida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1828800"/>
            <a:ext cx="3246120" cy="2395728"/>
          </a:xfrm>
          <a:prstGeom prst="roundRect">
            <a:avLst>
              <a:gd name="adj" fmla="val 6107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" y="2075688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31D7FF">
              <a:alpha val="15000"/>
            </a:srgbClr>
          </a:solidFill>
          <a:ln w="12700">
            <a:solidFill>
              <a:srgbClr val="31D7FF">
                <a:alpha val="55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88720" y="2093976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31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 1</a:t>
            </a:r>
            <a:endParaRPr lang="en-US" sz="82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266090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Archivos recientes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32552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 inmediato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24528" y="2999232"/>
            <a:ext cx="347472" cy="0"/>
          </a:xfrm>
          <a:prstGeom prst="line">
            <a:avLst/>
          </a:prstGeom>
          <a:noFill/>
          <a:ln w="21590">
            <a:solidFill>
              <a:srgbClr val="31D7FF">
                <a:alpha val="9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681728" y="1828800"/>
            <a:ext cx="3246120" cy="2395728"/>
          </a:xfrm>
          <a:prstGeom prst="roundRect">
            <a:avLst>
              <a:gd name="adj" fmla="val 6107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82896" y="2075688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8A5CFF">
              <a:alpha val="15000"/>
            </a:srgbClr>
          </a:solidFill>
          <a:ln w="12700">
            <a:solidFill>
              <a:srgbClr val="8A5CFF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56048" y="2093976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8A5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 2</a:t>
            </a:r>
            <a:endParaRPr lang="en-US" sz="820" dirty="0"/>
          </a:p>
        </p:txBody>
      </p:sp>
      <p:sp>
        <p:nvSpPr>
          <p:cNvPr id="16" name="Text 14"/>
          <p:cNvSpPr txBox="1"/>
          <p:nvPr/>
        </p:nvSpPr>
        <p:spPr>
          <a:xfrm>
            <a:off x="4882896" y="266090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Decisiones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4882896" y="32552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Búsqueda dirigida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91856" y="2999232"/>
            <a:ext cx="347472" cy="0"/>
          </a:xfrm>
          <a:prstGeom prst="line">
            <a:avLst/>
          </a:prstGeom>
          <a:noFill/>
          <a:ln w="21590">
            <a:solidFill>
              <a:srgbClr val="31D7FF">
                <a:alpha val="9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449056" y="1828800"/>
            <a:ext cx="3246120" cy="2395728"/>
          </a:xfrm>
          <a:prstGeom prst="roundRect">
            <a:avLst>
              <a:gd name="adj" fmla="val 6107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50224" y="2075688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FF6B6B">
              <a:alpha val="15000"/>
            </a:srgbClr>
          </a:solidFill>
          <a:ln w="12700">
            <a:solidFill>
              <a:srgbClr val="FF6B6B">
                <a:alpha val="55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723376" y="2093976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 3</a:t>
            </a:r>
            <a:endParaRPr lang="en-US" sz="820" dirty="0"/>
          </a:p>
        </p:txBody>
      </p:sp>
      <p:sp>
        <p:nvSpPr>
          <p:cNvPr id="22" name="Text 20"/>
          <p:cNvSpPr txBox="1"/>
          <p:nvPr/>
        </p:nvSpPr>
        <p:spPr>
          <a:xfrm>
            <a:off x="8650224" y="266090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Detalle completo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8650224" y="32552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 profundo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075688" y="4846320"/>
            <a:ext cx="8046720" cy="822960"/>
          </a:xfrm>
          <a:prstGeom prst="roundRect">
            <a:avLst>
              <a:gd name="adj" fmla="val 17778"/>
            </a:avLst>
          </a:prstGeom>
          <a:solidFill>
            <a:srgbClr val="10263B"/>
          </a:solidFill>
          <a:ln w="12700">
            <a:solidFill>
              <a:srgbClr val="8A5C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377440" y="5065776"/>
            <a:ext cx="7452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“Pick up where we left off.”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3291840" y="5870448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· persistente · sin servicios externos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1D7FF"/>
          </a:solidFill>
          <a:ln w="12700">
            <a:solidFill>
              <a:srgbClr val="31D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140" dirty="0">
                <a:solidFill>
                  <a:srgbClr val="72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 AI-FIRST · HACKATHON 2026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458200" y="647395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kern="0" spc="120" dirty="0">
                <a:solidFill>
                  <a:srgbClr val="72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KIRO × CÓDIGO FACILITO</a:t>
            </a:r>
            <a:endParaRPr lang="en-US" sz="68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1089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31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· DELIVERY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5836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spec al tablero, sin trabajo manual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58368" y="2084832"/>
            <a:ext cx="2395728" cy="1664208"/>
          </a:xfrm>
          <a:prstGeom prst="roundRect">
            <a:avLst>
              <a:gd name="adj" fmla="val 8791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295144"/>
            <a:ext cx="493776" cy="274320"/>
          </a:xfrm>
          <a:prstGeom prst="roundRect">
            <a:avLst>
              <a:gd name="adj" fmla="val 50000"/>
            </a:avLst>
          </a:prstGeom>
          <a:solidFill>
            <a:srgbClr val="31D7FF">
              <a:alpha val="15000"/>
            </a:srgbClr>
          </a:solidFill>
          <a:ln w="12700">
            <a:solidFill>
              <a:srgbClr val="31D7FF">
                <a:alpha val="55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313432"/>
            <a:ext cx="347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31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2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2770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31638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tasks.md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2907792"/>
            <a:ext cx="338328" cy="0"/>
          </a:xfrm>
          <a:prstGeom prst="line">
            <a:avLst/>
          </a:prstGeom>
          <a:noFill/>
          <a:ln w="21590">
            <a:solidFill>
              <a:srgbClr val="31D7FF">
                <a:alpha val="9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566160" y="2084832"/>
            <a:ext cx="2395728" cy="1664208"/>
          </a:xfrm>
          <a:prstGeom prst="roundRect">
            <a:avLst>
              <a:gd name="adj" fmla="val 8791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0" y="2295144"/>
            <a:ext cx="493776" cy="274320"/>
          </a:xfrm>
          <a:prstGeom prst="roundRect">
            <a:avLst>
              <a:gd name="adj" fmla="val 50000"/>
            </a:avLst>
          </a:prstGeom>
          <a:solidFill>
            <a:srgbClr val="8A5CFF">
              <a:alpha val="15000"/>
            </a:srgbClr>
          </a:solidFill>
          <a:ln w="12700">
            <a:solidFill>
              <a:srgbClr val="8A5CFF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22192" y="2313432"/>
            <a:ext cx="347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8A5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2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2770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31638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tickets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16752" y="2907792"/>
            <a:ext cx="338328" cy="0"/>
          </a:xfrm>
          <a:prstGeom prst="line">
            <a:avLst/>
          </a:prstGeom>
          <a:noFill/>
          <a:ln w="21590">
            <a:solidFill>
              <a:srgbClr val="31D7FF">
                <a:alpha val="9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73952" y="2084832"/>
            <a:ext cx="2395728" cy="1664208"/>
          </a:xfrm>
          <a:prstGeom prst="roundRect">
            <a:avLst>
              <a:gd name="adj" fmla="val 8791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56832" y="2295144"/>
            <a:ext cx="493776" cy="274320"/>
          </a:xfrm>
          <a:prstGeom prst="roundRect">
            <a:avLst>
              <a:gd name="adj" fmla="val 50000"/>
            </a:avLst>
          </a:prstGeom>
          <a:solidFill>
            <a:srgbClr val="FF6B6B">
              <a:alpha val="15000"/>
            </a:srgbClr>
          </a:solidFill>
          <a:ln w="12700">
            <a:solidFill>
              <a:srgbClr val="FF6B6B">
                <a:alpha val="55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29984" y="2313432"/>
            <a:ext cx="347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20" dirty="0"/>
          </a:p>
        </p:txBody>
      </p:sp>
      <p:sp>
        <p:nvSpPr>
          <p:cNvPr id="22" name="Text 20"/>
          <p:cNvSpPr txBox="1"/>
          <p:nvPr/>
        </p:nvSpPr>
        <p:spPr>
          <a:xfrm>
            <a:off x="6656832" y="2770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656832" y="31638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Kanban V2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924544" y="2907792"/>
            <a:ext cx="338328" cy="0"/>
          </a:xfrm>
          <a:prstGeom prst="line">
            <a:avLst/>
          </a:prstGeom>
          <a:noFill/>
          <a:ln w="21590">
            <a:solidFill>
              <a:srgbClr val="31D7FF">
                <a:alpha val="9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381744" y="2084832"/>
            <a:ext cx="2395728" cy="1664208"/>
          </a:xfrm>
          <a:prstGeom prst="roundRect">
            <a:avLst>
              <a:gd name="adj" fmla="val 8791"/>
            </a:avLst>
          </a:prstGeom>
          <a:solidFill>
            <a:srgbClr val="14283C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64624" y="2295144"/>
            <a:ext cx="493776" cy="274320"/>
          </a:xfrm>
          <a:prstGeom prst="roundRect">
            <a:avLst>
              <a:gd name="adj" fmla="val 50000"/>
            </a:avLst>
          </a:prstGeom>
          <a:solidFill>
            <a:srgbClr val="55E6A5">
              <a:alpha val="15000"/>
            </a:srgbClr>
          </a:solidFill>
          <a:ln w="12700">
            <a:solidFill>
              <a:srgbClr val="55E6A5">
                <a:alpha val="5500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637776" y="2313432"/>
            <a:ext cx="347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55E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20" dirty="0"/>
          </a:p>
        </p:txBody>
      </p:sp>
      <p:sp>
        <p:nvSpPr>
          <p:cNvPr id="28" name="Text 26"/>
          <p:cNvSpPr txBox="1"/>
          <p:nvPr/>
        </p:nvSpPr>
        <p:spPr>
          <a:xfrm>
            <a:off x="9564624" y="2770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9564624" y="31638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prompts + mejoras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77824" y="4681728"/>
            <a:ext cx="3044952" cy="987552"/>
          </a:xfrm>
          <a:prstGeom prst="roundRect">
            <a:avLst>
              <a:gd name="adj" fmla="val 14815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42416" y="4846320"/>
            <a:ext cx="2715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31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2500" dirty="0"/>
          </a:p>
        </p:txBody>
      </p:sp>
      <p:sp>
        <p:nvSpPr>
          <p:cNvPr id="32" name="Text 30"/>
          <p:cNvSpPr txBox="1"/>
          <p:nvPr/>
        </p:nvSpPr>
        <p:spPr>
          <a:xfrm>
            <a:off x="1042416" y="5367528"/>
            <a:ext cx="271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issues automáticas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53712" y="4681728"/>
            <a:ext cx="3044952" cy="987552"/>
          </a:xfrm>
          <a:prstGeom prst="roundRect">
            <a:avLst>
              <a:gd name="adj" fmla="val 14815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718304" y="4846320"/>
            <a:ext cx="2715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8A5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500" dirty="0"/>
          </a:p>
        </p:txBody>
      </p:sp>
      <p:sp>
        <p:nvSpPr>
          <p:cNvPr id="35" name="Text 33"/>
          <p:cNvSpPr txBox="1"/>
          <p:nvPr/>
        </p:nvSpPr>
        <p:spPr>
          <a:xfrm>
            <a:off x="4718304" y="5367528"/>
            <a:ext cx="271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milestone conectado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229600" y="4681728"/>
            <a:ext cx="3044952" cy="987552"/>
          </a:xfrm>
          <a:prstGeom prst="roundRect">
            <a:avLst>
              <a:gd name="adj" fmla="val 14815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394192" y="4846320"/>
            <a:ext cx="2715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55E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500" dirty="0"/>
          </a:p>
        </p:txBody>
      </p:sp>
      <p:sp>
        <p:nvSpPr>
          <p:cNvPr id="38" name="Text 36"/>
          <p:cNvSpPr txBox="1"/>
          <p:nvPr/>
        </p:nvSpPr>
        <p:spPr>
          <a:xfrm>
            <a:off x="8394192" y="5367528"/>
            <a:ext cx="271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campos custom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1D7FF"/>
          </a:solidFill>
          <a:ln w="12700">
            <a:solidFill>
              <a:srgbClr val="31D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140" dirty="0">
                <a:solidFill>
                  <a:srgbClr val="72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 AI-FIRST · HACKATHON 2026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458200" y="647395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kern="0" spc="120" dirty="0">
                <a:solidFill>
                  <a:srgbClr val="72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KIRO × CÓDIGO FACILITO</a:t>
            </a:r>
            <a:endParaRPr lang="en-US" sz="68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1089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31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· MULTIPLATAFORMA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5836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workspace. Tres dispositivos. Cero pérdida de contexto.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50976" y="1847088"/>
            <a:ext cx="3154680" cy="2880360"/>
          </a:xfrm>
          <a:prstGeom prst="roundRect">
            <a:avLst>
              <a:gd name="adj" fmla="val 5079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36776" y="2176272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31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3900" dirty="0"/>
          </a:p>
        </p:txBody>
      </p:sp>
      <p:sp>
        <p:nvSpPr>
          <p:cNvPr id="9" name="Text 7"/>
          <p:cNvSpPr txBox="1"/>
          <p:nvPr/>
        </p:nvSpPr>
        <p:spPr>
          <a:xfrm>
            <a:off x="1225296" y="3246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kern="0" spc="14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25296" y="37947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Construir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151376" y="3291840"/>
            <a:ext cx="457200" cy="0"/>
          </a:xfrm>
          <a:prstGeom prst="line">
            <a:avLst/>
          </a:prstGeom>
          <a:noFill/>
          <a:ln w="21590">
            <a:solidFill>
              <a:srgbClr val="31D7FF">
                <a:alpha val="9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718304" y="1847088"/>
            <a:ext cx="3154680" cy="2880360"/>
          </a:xfrm>
          <a:prstGeom prst="roundRect">
            <a:avLst>
              <a:gd name="adj" fmla="val 5079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04104" y="2176272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8A5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</a:t>
            </a:r>
            <a:endParaRPr lang="en-US" sz="3900" dirty="0"/>
          </a:p>
        </p:txBody>
      </p:sp>
      <p:sp>
        <p:nvSpPr>
          <p:cNvPr id="14" name="Text 12"/>
          <p:cNvSpPr txBox="1"/>
          <p:nvPr/>
        </p:nvSpPr>
        <p:spPr>
          <a:xfrm>
            <a:off x="4992624" y="3246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kern="0" spc="14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992624" y="37947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Continuar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918704" y="3291840"/>
            <a:ext cx="457200" cy="0"/>
          </a:xfrm>
          <a:prstGeom prst="line">
            <a:avLst/>
          </a:prstGeom>
          <a:noFill/>
          <a:ln w="21590">
            <a:solidFill>
              <a:srgbClr val="31D7FF">
                <a:alpha val="9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485632" y="1847088"/>
            <a:ext cx="3154680" cy="2880360"/>
          </a:xfrm>
          <a:prstGeom prst="roundRect">
            <a:avLst>
              <a:gd name="adj" fmla="val 5079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71432" y="2176272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</a:t>
            </a:r>
            <a:endParaRPr lang="en-US" sz="3900" dirty="0"/>
          </a:p>
        </p:txBody>
      </p:sp>
      <p:sp>
        <p:nvSpPr>
          <p:cNvPr id="19" name="Text 17"/>
          <p:cNvSpPr txBox="1"/>
          <p:nvPr/>
        </p:nvSpPr>
        <p:spPr>
          <a:xfrm>
            <a:off x="8759952" y="3246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kern="0" spc="14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759952" y="37947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078224" y="5303520"/>
            <a:ext cx="4041648" cy="274320"/>
          </a:xfrm>
          <a:prstGeom prst="roundRect">
            <a:avLst>
              <a:gd name="adj" fmla="val 50000"/>
            </a:avLst>
          </a:prstGeom>
          <a:solidFill>
            <a:srgbClr val="55E6A5">
              <a:alpha val="15000"/>
            </a:srgbClr>
          </a:solidFill>
          <a:ln w="12700">
            <a:solidFill>
              <a:srgbClr val="55E6A5">
                <a:alpha val="5500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51376" y="5321808"/>
            <a:ext cx="3895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55E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SYNC FILES · BIDIRECCIONAL</a:t>
            </a:r>
            <a:endParaRPr lang="en-US" sz="8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1D7FF"/>
          </a:solidFill>
          <a:ln w="12700">
            <a:solidFill>
              <a:srgbClr val="31D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140" dirty="0">
                <a:solidFill>
                  <a:srgbClr val="72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 AI-FIRST · HACKATHON 2026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458200" y="647395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kern="0" spc="120" dirty="0">
                <a:solidFill>
                  <a:srgbClr val="72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KIRO × CÓDIGO FACILITO</a:t>
            </a:r>
            <a:endParaRPr lang="en-US" sz="68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1089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31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· ARQUITECTURA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5836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Hexagonal + AI Layer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85216" y="12618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dependencias apuntan hacia adentro.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280160" y="1664208"/>
            <a:ext cx="9646920" cy="658368"/>
          </a:xfrm>
          <a:prstGeom prst="roundRect">
            <a:avLst>
              <a:gd name="adj" fmla="val 22222"/>
            </a:avLst>
          </a:prstGeom>
          <a:solidFill>
            <a:srgbClr val="172A40"/>
          </a:solidFill>
          <a:ln w="12700">
            <a:solidFill>
              <a:srgbClr val="31D7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99616" y="1837944"/>
            <a:ext cx="9208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HTMX + Alpine.js + Tailwind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719072" y="2496312"/>
            <a:ext cx="8769096" cy="658368"/>
          </a:xfrm>
          <a:prstGeom prst="roundRect">
            <a:avLst>
              <a:gd name="adj" fmla="val 22222"/>
            </a:avLst>
          </a:prstGeom>
          <a:solidFill>
            <a:srgbClr val="14253A"/>
          </a:solidFill>
          <a:ln w="12700">
            <a:solidFill>
              <a:srgbClr val="8A5C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38528" y="2670048"/>
            <a:ext cx="8330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 HTTP · chi router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57984" y="3328416"/>
            <a:ext cx="7891272" cy="658368"/>
          </a:xfrm>
          <a:prstGeom prst="roundRect">
            <a:avLst>
              <a:gd name="adj" fmla="val 22222"/>
            </a:avLst>
          </a:prstGeom>
          <a:solidFill>
            <a:srgbClr val="112238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77440" y="3502152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· use cases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596896" y="4160520"/>
            <a:ext cx="7013448" cy="658368"/>
          </a:xfrm>
          <a:prstGeom prst="roundRect">
            <a:avLst>
              <a:gd name="adj" fmla="val 22222"/>
            </a:avLst>
          </a:prstGeom>
          <a:solidFill>
            <a:srgbClr val="0E1E31"/>
          </a:solidFill>
          <a:ln w="12700">
            <a:solidFill>
              <a:srgbClr val="55E6A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816352" y="4334256"/>
            <a:ext cx="6574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· entities + ports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035808" y="4992624"/>
            <a:ext cx="6135624" cy="658368"/>
          </a:xfrm>
          <a:prstGeom prst="roundRect">
            <a:avLst>
              <a:gd name="adj" fmla="val 22222"/>
            </a:avLst>
          </a:prstGeom>
          <a:solidFill>
            <a:srgbClr val="0B1A2B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55264" y="516636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· OpenRouter · Config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948672" y="422452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5E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DOMINIO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732520" y="3950208"/>
            <a:ext cx="1188720" cy="0"/>
          </a:xfrm>
          <a:prstGeom prst="line">
            <a:avLst/>
          </a:prstGeom>
          <a:noFill/>
          <a:ln w="21590">
            <a:solidFill>
              <a:srgbClr val="55E6A5">
                <a:alpha val="90000"/>
              </a:srgbClr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1D7FF"/>
          </a:solidFill>
          <a:ln w="12700">
            <a:solidFill>
              <a:srgbClr val="31D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140" dirty="0">
                <a:solidFill>
                  <a:srgbClr val="72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 AI-FIRST · HACKATHON 2026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458200" y="647395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kern="0" spc="120" dirty="0">
                <a:solidFill>
                  <a:srgbClr val="72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KIRO × CÓDIGO FACILITO</a:t>
            </a:r>
            <a:endParaRPr lang="en-US" sz="68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1089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31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· SEGURIDAD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5836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capas para queries generadas por AI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85216" y="12618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confiamos en el LLM. Diseñamos defensa en profundidad.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3504" y="1901952"/>
            <a:ext cx="1947672" cy="2926080"/>
          </a:xfrm>
          <a:prstGeom prst="roundRect">
            <a:avLst>
              <a:gd name="adj" fmla="val 7512"/>
            </a:avLst>
          </a:prstGeom>
          <a:solidFill>
            <a:srgbClr val="0E1B2E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217627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740664" y="3127248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3685032"/>
            <a:ext cx="1618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DDL / DML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916936" y="1901952"/>
            <a:ext cx="1947672" cy="2926080"/>
          </a:xfrm>
          <a:prstGeom prst="roundRect">
            <a:avLst>
              <a:gd name="adj" fmla="val 7512"/>
            </a:avLst>
          </a:prstGeom>
          <a:solidFill>
            <a:srgbClr val="0E1B2E"/>
          </a:solidFill>
          <a:ln w="12700">
            <a:solidFill>
              <a:srgbClr val="E9777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47872" y="217627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977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3054096" y="3127248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081528" y="3685032"/>
            <a:ext cx="1618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/ WITH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230368" y="1901952"/>
            <a:ext cx="1947672" cy="2926080"/>
          </a:xfrm>
          <a:prstGeom prst="roundRect">
            <a:avLst>
              <a:gd name="adj" fmla="val 7512"/>
            </a:avLst>
          </a:prstGeom>
          <a:solidFill>
            <a:srgbClr val="0E1B2E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61304" y="217627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C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5367528" y="3127248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CONEXIÓN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3685032"/>
            <a:ext cx="1618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Read-only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543800" y="1901952"/>
            <a:ext cx="1947672" cy="2926080"/>
          </a:xfrm>
          <a:prstGeom prst="roundRect">
            <a:avLst>
              <a:gd name="adj" fmla="val 7512"/>
            </a:avLst>
          </a:prstGeom>
          <a:solidFill>
            <a:srgbClr val="0E1B2E"/>
          </a:solidFill>
          <a:ln w="12700">
            <a:solidFill>
              <a:srgbClr val="31D7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74736" y="217627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1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7680960" y="3127248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EJECUCIÓN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708392" y="3685032"/>
            <a:ext cx="1618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5s · LIMIT 500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857232" y="1901952"/>
            <a:ext cx="1947672" cy="2926080"/>
          </a:xfrm>
          <a:prstGeom prst="roundRect">
            <a:avLst>
              <a:gd name="adj" fmla="val 7512"/>
            </a:avLst>
          </a:prstGeom>
          <a:solidFill>
            <a:srgbClr val="122B3A"/>
          </a:solidFill>
          <a:ln w="12700">
            <a:solidFill>
              <a:srgbClr val="55E6A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488168" y="217627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5E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9994392" y="3127248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AUDITORÍA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0021824" y="3685032"/>
            <a:ext cx="1618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 completo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236976" y="5376672"/>
            <a:ext cx="5742432" cy="274320"/>
          </a:xfrm>
          <a:prstGeom prst="roundRect">
            <a:avLst>
              <a:gd name="adj" fmla="val 50000"/>
            </a:avLst>
          </a:prstGeom>
          <a:solidFill>
            <a:srgbClr val="55E6A5">
              <a:alpha val="15000"/>
            </a:srgbClr>
          </a:solidFill>
          <a:ln w="12700">
            <a:solidFill>
              <a:srgbClr val="55E6A5">
                <a:alpha val="5500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310128" y="5394960"/>
            <a:ext cx="55961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55E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CAPA ES UN GUARDIA INDEPENDIENTE</a:t>
            </a:r>
            <a:endParaRPr lang="en-US" sz="8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1D7FF"/>
          </a:solidFill>
          <a:ln w="12700">
            <a:solidFill>
              <a:srgbClr val="31D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140" dirty="0">
                <a:solidFill>
                  <a:srgbClr val="72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 AI-FIRST · HACKATHON 2026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458200" y="647395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kern="0" spc="120" dirty="0">
                <a:solidFill>
                  <a:srgbClr val="72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KIRO × CÓDIGO FACILITO</a:t>
            </a:r>
            <a:endParaRPr lang="en-US" sz="68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1089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31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· ITERACIÓN 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5836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gestión. Mejor seguridad. Datos siempre frescos.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76656" y="1664208"/>
            <a:ext cx="2468880" cy="1371600"/>
          </a:xfrm>
          <a:prstGeom prst="roundRect">
            <a:avLst>
              <a:gd name="adj" fmla="val 10667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1901952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1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368296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 + validación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57016" y="1664208"/>
            <a:ext cx="2468880" cy="1371600"/>
          </a:xfrm>
          <a:prstGeom prst="roundRect">
            <a:avLst>
              <a:gd name="adj" fmla="val 10667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21608" y="1901952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8A5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721608" y="2368296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key cifrada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37376" y="1664208"/>
            <a:ext cx="2468880" cy="1371600"/>
          </a:xfrm>
          <a:prstGeom prst="roundRect">
            <a:avLst>
              <a:gd name="adj" fmla="val 10667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01968" y="1901952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Navegación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601968" y="2368296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HTMX no-cache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317736" y="1664208"/>
            <a:ext cx="2468880" cy="1371600"/>
          </a:xfrm>
          <a:prstGeom prst="roundRect">
            <a:avLst>
              <a:gd name="adj" fmla="val 10667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482328" y="1901952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5E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482328" y="2368296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Sidebar contextual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86384" y="3584448"/>
            <a:ext cx="10588752" cy="1572768"/>
          </a:xfrm>
          <a:prstGeom prst="roundRect">
            <a:avLst>
              <a:gd name="adj" fmla="val 9302"/>
            </a:avLst>
          </a:prstGeom>
          <a:solidFill>
            <a:srgbClr val="0B1A2A"/>
          </a:solidFill>
          <a:ln w="12700">
            <a:solidFill>
              <a:srgbClr val="8A5C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24128" y="383133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1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993392" y="3986784"/>
            <a:ext cx="768096" cy="0"/>
          </a:xfrm>
          <a:prstGeom prst="line">
            <a:avLst/>
          </a:prstGeom>
          <a:noFill/>
          <a:ln w="21590">
            <a:solidFill>
              <a:srgbClr val="31D7FF">
                <a:alpha val="9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2907792" y="38313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767328" y="3986784"/>
            <a:ext cx="841248" cy="0"/>
          </a:xfrm>
          <a:prstGeom prst="line">
            <a:avLst/>
          </a:prstGeom>
          <a:noFill/>
          <a:ln w="21590">
            <a:solidFill>
              <a:srgbClr val="8A5CFF">
                <a:alpha val="9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4736592" y="3831336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A5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AES-GCM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16752" y="3986784"/>
            <a:ext cx="822960" cy="0"/>
          </a:xfrm>
          <a:prstGeom prst="line">
            <a:avLst/>
          </a:prstGeom>
          <a:noFill/>
          <a:ln w="21590">
            <a:solidFill>
              <a:srgbClr val="8A5CFF">
                <a:alpha val="9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6976872" y="38313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19872" y="3986784"/>
            <a:ext cx="786384" cy="0"/>
          </a:xfrm>
          <a:prstGeom prst="line">
            <a:avLst/>
          </a:prstGeom>
          <a:noFill/>
          <a:ln w="21590">
            <a:solidFill>
              <a:srgbClr val="55E6A5">
                <a:alpha val="9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9052560" y="38313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5E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MASK ••••1234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054096" y="4617720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SHA-256 de SESSION_SECRET · decrypt on read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453128" y="5614416"/>
            <a:ext cx="3273552" cy="274320"/>
          </a:xfrm>
          <a:prstGeom prst="roundRect">
            <a:avLst>
              <a:gd name="adj" fmla="val 50000"/>
            </a:avLst>
          </a:prstGeom>
          <a:solidFill>
            <a:srgbClr val="FF6B6B">
              <a:alpha val="15000"/>
            </a:srgbClr>
          </a:solidFill>
          <a:ln w="12700">
            <a:solidFill>
              <a:srgbClr val="FF6B6B">
                <a:alpha val="55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26280" y="5632704"/>
            <a:ext cx="3127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TAREAS · 5 WAVES</a:t>
            </a:r>
            <a:endParaRPr lang="en-US" sz="8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1D7FF"/>
          </a:solidFill>
          <a:ln w="12700">
            <a:solidFill>
              <a:srgbClr val="31D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140" dirty="0">
                <a:solidFill>
                  <a:srgbClr val="72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 AI-FIRST · HACKATHON 2026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458200" y="647395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kern="0" spc="120" dirty="0">
                <a:solidFill>
                  <a:srgbClr val="72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KIRO × CÓDIGO FACILITO</a:t>
            </a:r>
            <a:endParaRPr lang="en-US" sz="68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1089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31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· DEMO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5836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Pregúntale a tu POS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85216" y="12618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flujo completo, no un mockup.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32688" y="1764792"/>
            <a:ext cx="164592" cy="164592"/>
          </a:xfrm>
          <a:prstGeom prst="ellipse">
            <a:avLst/>
          </a:prstGeom>
          <a:solidFill>
            <a:srgbClr val="8A5C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16002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764792" y="160020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 con PIN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32688" y="2478024"/>
            <a:ext cx="164592" cy="164592"/>
          </a:xfrm>
          <a:prstGeom prst="ellipse">
            <a:avLst/>
          </a:prstGeom>
          <a:solidFill>
            <a:srgbClr val="8A5C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231343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764792" y="231343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 producto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32688" y="3191256"/>
            <a:ext cx="164592" cy="164592"/>
          </a:xfrm>
          <a:prstGeom prst="ellipse">
            <a:avLst/>
          </a:prstGeom>
          <a:solidFill>
            <a:srgbClr val="8A5C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34440" y="302666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764792" y="302666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cliente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32688" y="3904488"/>
            <a:ext cx="164592" cy="164592"/>
          </a:xfrm>
          <a:prstGeom prst="ellipse">
            <a:avLst/>
          </a:prstGeom>
          <a:solidFill>
            <a:srgbClr val="8A5C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34440" y="373989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764792" y="373989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venta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32688" y="4617720"/>
            <a:ext cx="164592" cy="164592"/>
          </a:xfrm>
          <a:prstGeom prst="ellipse">
            <a:avLst/>
          </a:prstGeom>
          <a:solidFill>
            <a:srgbClr val="31D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234440" y="445312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764792" y="445312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1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vendí hoy?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32688" y="5330952"/>
            <a:ext cx="164592" cy="164592"/>
          </a:xfrm>
          <a:prstGeom prst="ellipse">
            <a:avLst/>
          </a:prstGeom>
          <a:solidFill>
            <a:srgbClr val="8A5C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234440" y="516636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764792" y="516636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+ Admin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46520" y="1664208"/>
            <a:ext cx="4828032" cy="4005072"/>
          </a:xfrm>
          <a:prstGeom prst="roundRect">
            <a:avLst>
              <a:gd name="adj" fmla="val 3653"/>
            </a:avLst>
          </a:prstGeom>
          <a:solidFill>
            <a:srgbClr val="0B1928"/>
          </a:solidFill>
          <a:ln w="12700">
            <a:solidFill>
              <a:srgbClr val="31D7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11696" y="1911096"/>
            <a:ext cx="667512" cy="274320"/>
          </a:xfrm>
          <a:prstGeom prst="roundRect">
            <a:avLst>
              <a:gd name="adj" fmla="val 50000"/>
            </a:avLst>
          </a:prstGeom>
          <a:solidFill>
            <a:srgbClr val="FF6B6B">
              <a:alpha val="15000"/>
            </a:srgbClr>
          </a:solidFill>
          <a:ln w="12700">
            <a:solidFill>
              <a:srgbClr val="FF6B6B">
                <a:alpha val="55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84848" y="1929384"/>
            <a:ext cx="5212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</a:t>
            </a:r>
            <a:endParaRPr lang="en-US" sz="820" dirty="0"/>
          </a:p>
        </p:txBody>
      </p:sp>
      <p:sp>
        <p:nvSpPr>
          <p:cNvPr id="29" name="Text 27"/>
          <p:cNvSpPr txBox="1"/>
          <p:nvPr/>
        </p:nvSpPr>
        <p:spPr>
          <a:xfrm>
            <a:off x="6748272" y="253288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vendí hoy?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748272" y="3182112"/>
            <a:ext cx="4187952" cy="1024128"/>
          </a:xfrm>
          <a:prstGeom prst="roundRect">
            <a:avLst>
              <a:gd name="adj" fmla="val 14286"/>
            </a:avLst>
          </a:prstGeom>
          <a:solidFill>
            <a:srgbClr val="14283A"/>
          </a:solidFill>
          <a:ln w="12700">
            <a:solidFill>
              <a:srgbClr val="55E6A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004304" y="33649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55E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$12,480</a:t>
            </a:r>
            <a:endParaRPr lang="en-US" sz="2300" dirty="0"/>
          </a:p>
        </p:txBody>
      </p:sp>
      <p:sp>
        <p:nvSpPr>
          <p:cNvPr id="32" name="Text 30"/>
          <p:cNvSpPr txBox="1"/>
          <p:nvPr/>
        </p:nvSpPr>
        <p:spPr>
          <a:xfrm>
            <a:off x="8942832" y="344728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 ventas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766560" y="504748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 en video preparado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1D7FF"/>
          </a:solidFill>
          <a:ln w="12700">
            <a:solidFill>
              <a:srgbClr val="31D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140" dirty="0">
                <a:solidFill>
                  <a:srgbClr val="72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 AI-FIRST · HACKATHON 2026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458200" y="647395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kern="0" spc="120" dirty="0">
                <a:solidFill>
                  <a:srgbClr val="72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KIRO × CÓDIGO FACILITO</a:t>
            </a:r>
            <a:endParaRPr lang="en-US" sz="68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1089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31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· RESULTADOS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5836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días. Un producto real. Una arquitectura lista para crecer.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58368" y="1536192"/>
            <a:ext cx="2523744" cy="1133856"/>
          </a:xfrm>
          <a:prstGeom prst="roundRect">
            <a:avLst>
              <a:gd name="adj" fmla="val 12903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70078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31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100+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219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tareas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38728" y="1536192"/>
            <a:ext cx="2523744" cy="1133856"/>
          </a:xfrm>
          <a:prstGeom prst="roundRect">
            <a:avLst>
              <a:gd name="adj" fmla="val 12903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03320" y="170078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8A5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22219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19088" y="1536192"/>
            <a:ext cx="2523744" cy="1133856"/>
          </a:xfrm>
          <a:prstGeom prst="roundRect">
            <a:avLst>
              <a:gd name="adj" fmla="val 12903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0" y="170078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2219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capas SQL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299448" y="1536192"/>
            <a:ext cx="2523744" cy="1133856"/>
          </a:xfrm>
          <a:prstGeom prst="roundRect">
            <a:avLst>
              <a:gd name="adj" fmla="val 12903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464040" y="170078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55E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2500" dirty="0"/>
          </a:p>
        </p:txBody>
      </p:sp>
      <p:sp>
        <p:nvSpPr>
          <p:cNvPr id="18" name="Text 16"/>
          <p:cNvSpPr txBox="1"/>
          <p:nvPr/>
        </p:nvSpPr>
        <p:spPr>
          <a:xfrm>
            <a:off x="9464040" y="22219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lint warnings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8368" y="2953512"/>
            <a:ext cx="2523744" cy="1133856"/>
          </a:xfrm>
          <a:prstGeom prst="roundRect">
            <a:avLst>
              <a:gd name="adj" fmla="val 12903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311810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31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25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36393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 año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538728" y="2953512"/>
            <a:ext cx="2523744" cy="1133856"/>
          </a:xfrm>
          <a:prstGeom prst="roundRect">
            <a:avLst>
              <a:gd name="adj" fmla="val 12903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703320" y="311810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8A5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1–3ms</a:t>
            </a:r>
            <a:endParaRPr lang="en-US" sz="2500" dirty="0"/>
          </a:p>
        </p:txBody>
      </p:sp>
      <p:sp>
        <p:nvSpPr>
          <p:cNvPr id="24" name="Text 22"/>
          <p:cNvSpPr txBox="1"/>
          <p:nvPr/>
        </p:nvSpPr>
        <p:spPr>
          <a:xfrm>
            <a:off x="3703320" y="36393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 start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19088" y="2953512"/>
            <a:ext cx="2523744" cy="1133856"/>
          </a:xfrm>
          <a:prstGeom prst="roundRect">
            <a:avLst>
              <a:gd name="adj" fmla="val 12903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0" y="311810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25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36393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adapters PG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299448" y="2953512"/>
            <a:ext cx="2523744" cy="1133856"/>
          </a:xfrm>
          <a:prstGeom prst="roundRect">
            <a:avLst>
              <a:gd name="adj" fmla="val 12903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464040" y="311810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55E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2500" dirty="0"/>
          </a:p>
        </p:txBody>
      </p:sp>
      <p:sp>
        <p:nvSpPr>
          <p:cNvPr id="30" name="Text 28"/>
          <p:cNvSpPr txBox="1"/>
          <p:nvPr/>
        </p:nvSpPr>
        <p:spPr>
          <a:xfrm>
            <a:off x="9464040" y="36393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tests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41248" y="4736592"/>
            <a:ext cx="10515600" cy="960120"/>
          </a:xfrm>
          <a:prstGeom prst="roundRect">
            <a:avLst>
              <a:gd name="adj" fmla="val 15238"/>
            </a:avLst>
          </a:prstGeom>
          <a:solidFill>
            <a:srgbClr val="10263A"/>
          </a:solidFill>
          <a:ln w="12700">
            <a:solidFill>
              <a:srgbClr val="31D7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143000" y="4965192"/>
            <a:ext cx="9893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AI · CRUD completo · AES-GCM · AWS Lambda · CI/CD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1D7FF"/>
          </a:solidFill>
          <a:ln w="12700">
            <a:solidFill>
              <a:srgbClr val="31D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140" dirty="0">
                <a:solidFill>
                  <a:srgbClr val="72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 AI-FIRST · HACKATHON 2026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458200" y="647395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kern="0" spc="120" dirty="0">
                <a:solidFill>
                  <a:srgbClr val="72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KIRO × CÓDIGO FACILITO</a:t>
            </a:r>
            <a:endParaRPr lang="en-US" sz="68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1089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31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· LECCIONES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5836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Velocidad sin fundamentos es deuda técnica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85800" y="1600200"/>
            <a:ext cx="2487168" cy="1261872"/>
          </a:xfrm>
          <a:prstGeom prst="roundRect">
            <a:avLst>
              <a:gd name="adj" fmla="val 11594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0392" y="181051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1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Steering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225856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Consistencia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66160" y="1600200"/>
            <a:ext cx="2487168" cy="1261872"/>
          </a:xfrm>
          <a:prstGeom prst="roundRect">
            <a:avLst>
              <a:gd name="adj" fmla="val 11594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30752" y="181051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A5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LTM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730752" y="225856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Continuidad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46520" y="1600200"/>
            <a:ext cx="2487168" cy="1261872"/>
          </a:xfrm>
          <a:prstGeom prst="roundRect">
            <a:avLst>
              <a:gd name="adj" fmla="val 11594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11112" y="181051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11112" y="225856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Claridad antes de código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326880" y="1600200"/>
            <a:ext cx="2487168" cy="1261872"/>
          </a:xfrm>
          <a:prstGeom prst="roundRect">
            <a:avLst>
              <a:gd name="adj" fmla="val 11594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491472" y="181051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5E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Waves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491472" y="225856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Paralelismo seguro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3227832"/>
            <a:ext cx="2487168" cy="1261872"/>
          </a:xfrm>
          <a:prstGeom prst="roundRect">
            <a:avLst>
              <a:gd name="adj" fmla="val 11594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0392" y="343814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1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NL→SQL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" y="388620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Defensa en profundidad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66160" y="3227832"/>
            <a:ext cx="2487168" cy="1261872"/>
          </a:xfrm>
          <a:prstGeom prst="roundRect">
            <a:avLst>
              <a:gd name="adj" fmla="val 11594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730752" y="343814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A5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HTMX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730752" y="388620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simple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46520" y="3227832"/>
            <a:ext cx="2487168" cy="1261872"/>
          </a:xfrm>
          <a:prstGeom prst="roundRect">
            <a:avLst>
              <a:gd name="adj" fmla="val 11594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11112" y="343814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AES-GCM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611112" y="388620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Secretos protegidos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326880" y="3227832"/>
            <a:ext cx="2487168" cy="1261872"/>
          </a:xfrm>
          <a:prstGeom prst="roundRect">
            <a:avLst>
              <a:gd name="adj" fmla="val 11594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491472" y="343814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5E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Property tests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491472" y="388620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Correctitud universal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3172968" y="541324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1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ejecuta. La persona dirige.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1D7FF"/>
          </a:solidFill>
          <a:ln w="12700">
            <a:solidFill>
              <a:srgbClr val="31D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140" dirty="0">
                <a:solidFill>
                  <a:srgbClr val="72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 AI-FIRST · HACKATHON 2026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458200" y="647395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kern="0" spc="120" dirty="0">
                <a:solidFill>
                  <a:srgbClr val="72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KIRO × CÓDIGO FACILITO</a:t>
            </a:r>
            <a:endParaRPr lang="en-US" sz="68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1089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31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· AWS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5836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local a producción sin tocar el dominio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58368" y="1856232"/>
            <a:ext cx="1719072" cy="822960"/>
          </a:xfrm>
          <a:prstGeom prst="roundRect">
            <a:avLst>
              <a:gd name="adj" fmla="val 17778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5528" y="2002536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1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295144"/>
            <a:ext cx="14447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S3 + CloudFront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61488" y="1856232"/>
            <a:ext cx="1719072" cy="822960"/>
          </a:xfrm>
          <a:prstGeom prst="roundRect">
            <a:avLst>
              <a:gd name="adj" fmla="val 17778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98648" y="2002536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A5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898648" y="2295144"/>
            <a:ext cx="14447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Gateway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64608" y="1856232"/>
            <a:ext cx="1719072" cy="822960"/>
          </a:xfrm>
          <a:prstGeom prst="roundRect">
            <a:avLst>
              <a:gd name="adj" fmla="val 17778"/>
            </a:avLst>
          </a:prstGeom>
          <a:solidFill>
            <a:srgbClr val="142C42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01768" y="2002536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001768" y="2295144"/>
            <a:ext cx="14447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Lambda Go ARM64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543800" y="1444752"/>
            <a:ext cx="3072384" cy="822960"/>
          </a:xfrm>
          <a:prstGeom prst="roundRect">
            <a:avLst>
              <a:gd name="adj" fmla="val 17778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80960" y="1591056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5E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1883664"/>
            <a:ext cx="2798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RDS PostgreSQL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543800" y="2743200"/>
            <a:ext cx="3072384" cy="822960"/>
          </a:xfrm>
          <a:prstGeom prst="roundRect">
            <a:avLst>
              <a:gd name="adj" fmla="val 17778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80960" y="2889504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A5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3182112"/>
            <a:ext cx="2798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Bedrock Haiku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43800" y="4041648"/>
            <a:ext cx="3072384" cy="822960"/>
          </a:xfrm>
          <a:prstGeom prst="roundRect">
            <a:avLst>
              <a:gd name="adj" fmla="val 17778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80960" y="4187952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C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4480560"/>
            <a:ext cx="2798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Secrets Manager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14016" y="2267712"/>
            <a:ext cx="292608" cy="0"/>
          </a:xfrm>
          <a:prstGeom prst="line">
            <a:avLst/>
          </a:prstGeom>
          <a:noFill/>
          <a:ln w="21590">
            <a:solidFill>
              <a:srgbClr val="31D7FF">
                <a:alpha val="9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517136" y="2267712"/>
            <a:ext cx="292608" cy="0"/>
          </a:xfrm>
          <a:prstGeom prst="line">
            <a:avLst/>
          </a:prstGeom>
          <a:noFill/>
          <a:ln w="21590">
            <a:solidFill>
              <a:srgbClr val="8A5CFF">
                <a:alpha val="9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583680" y="1856232"/>
            <a:ext cx="896112" cy="411480"/>
          </a:xfrm>
          <a:prstGeom prst="line">
            <a:avLst/>
          </a:prstGeom>
          <a:noFill/>
          <a:ln w="21590">
            <a:solidFill>
              <a:srgbClr val="FF6B6B">
                <a:alpha val="9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583680" y="2267712"/>
            <a:ext cx="896112" cy="886968"/>
          </a:xfrm>
          <a:prstGeom prst="line">
            <a:avLst/>
          </a:prstGeom>
          <a:noFill/>
          <a:ln w="21590">
            <a:solidFill>
              <a:srgbClr val="FF6B6B">
                <a:alpha val="9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583680" y="2267712"/>
            <a:ext cx="896112" cy="2185416"/>
          </a:xfrm>
          <a:prstGeom prst="line">
            <a:avLst/>
          </a:prstGeom>
          <a:noFill/>
          <a:ln w="21590">
            <a:solidFill>
              <a:srgbClr val="FF6B6B">
                <a:alpha val="9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49808" y="3803904"/>
            <a:ext cx="5742432" cy="1389888"/>
          </a:xfrm>
          <a:prstGeom prst="roundRect">
            <a:avLst>
              <a:gd name="adj" fmla="val 10526"/>
            </a:avLst>
          </a:prstGeom>
          <a:solidFill>
            <a:srgbClr val="0B1929"/>
          </a:solidFill>
          <a:ln w="12700">
            <a:solidFill>
              <a:srgbClr val="55E6A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4128" y="404164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5E6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cfg.AppEnv {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24128" y="440740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5F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"lambda": PostgreSQL + Bedrock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024128" y="473659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A7B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default: SQLite + OpenRouter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172968" y="5650992"/>
            <a:ext cx="5870448" cy="274320"/>
          </a:xfrm>
          <a:prstGeom prst="roundRect">
            <a:avLst>
              <a:gd name="adj" fmla="val 50000"/>
            </a:avLst>
          </a:prstGeom>
          <a:solidFill>
            <a:srgbClr val="55E6A5">
              <a:alpha val="15000"/>
            </a:srgbClr>
          </a:solidFill>
          <a:ln w="12700">
            <a:solidFill>
              <a:srgbClr val="55E6A5">
                <a:alpha val="5500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246120" y="5669280"/>
            <a:ext cx="57241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55E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 ARCHIVOS · 5,243 LÍNEAS · DOMINIO INTACTO</a:t>
            </a:r>
            <a:endParaRPr lang="en-US" sz="8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1D7FF"/>
          </a:solidFill>
          <a:ln w="12700">
            <a:solidFill>
              <a:srgbClr val="31D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140" dirty="0">
                <a:solidFill>
                  <a:srgbClr val="72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 AI-FIRST · HACKATHON 2026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458200" y="647395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kern="0" spc="120" dirty="0">
                <a:solidFill>
                  <a:srgbClr val="72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KIRO × CÓDIGO FACILITO</a:t>
            </a:r>
            <a:endParaRPr lang="en-US" sz="68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1089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31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· HEXAGONAL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5836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Migración sin dolor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85216" y="12618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Misma interfaz. Distinta implementación.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13232" y="1627632"/>
            <a:ext cx="3675888" cy="4059936"/>
          </a:xfrm>
          <a:prstGeom prst="roundRect">
            <a:avLst>
              <a:gd name="adj" fmla="val 3980"/>
            </a:avLst>
          </a:prstGeom>
          <a:solidFill>
            <a:srgbClr val="102034"/>
          </a:solidFill>
          <a:ln w="12700">
            <a:solidFill>
              <a:srgbClr val="55E6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2688" y="1883664"/>
            <a:ext cx="1755648" cy="274320"/>
          </a:xfrm>
          <a:prstGeom prst="roundRect">
            <a:avLst>
              <a:gd name="adj" fmla="val 50000"/>
            </a:avLst>
          </a:prstGeom>
          <a:solidFill>
            <a:srgbClr val="55E6A5">
              <a:alpha val="15000"/>
            </a:srgbClr>
          </a:solidFill>
          <a:ln w="12700">
            <a:solidFill>
              <a:srgbClr val="55E6A5">
                <a:alpha val="55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1901952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55E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LÍNEAS CAMBIADAS</a:t>
            </a:r>
            <a:endParaRPr lang="en-US" sz="820" dirty="0"/>
          </a:p>
        </p:txBody>
      </p:sp>
      <p:sp>
        <p:nvSpPr>
          <p:cNvPr id="11" name="Text 9"/>
          <p:cNvSpPr txBox="1"/>
          <p:nvPr/>
        </p:nvSpPr>
        <p:spPr>
          <a:xfrm>
            <a:off x="932688" y="24505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NO cambió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50976" y="3218688"/>
            <a:ext cx="100584" cy="100584"/>
          </a:xfrm>
          <a:prstGeom prst="ellipse">
            <a:avLst/>
          </a:prstGeom>
          <a:solidFill>
            <a:srgbClr val="55E6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79576" y="3090672"/>
            <a:ext cx="2880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src/domain/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50976" y="3813048"/>
            <a:ext cx="100584" cy="100584"/>
          </a:xfrm>
          <a:prstGeom prst="ellipse">
            <a:avLst/>
          </a:prstGeom>
          <a:solidFill>
            <a:srgbClr val="55E6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79576" y="3685032"/>
            <a:ext cx="2880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src/application/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50976" y="4407408"/>
            <a:ext cx="100584" cy="100584"/>
          </a:xfrm>
          <a:prstGeom prst="ellipse">
            <a:avLst/>
          </a:prstGeom>
          <a:solidFill>
            <a:srgbClr val="55E6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79576" y="4279392"/>
            <a:ext cx="2880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templates/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81728" y="1627632"/>
            <a:ext cx="6784848" cy="4059936"/>
          </a:xfrm>
          <a:prstGeom prst="roundRect">
            <a:avLst>
              <a:gd name="adj" fmla="val 3604"/>
            </a:avLst>
          </a:prstGeom>
          <a:solidFill>
            <a:srgbClr val="0E1B2E"/>
          </a:solidFill>
          <a:ln w="12700">
            <a:solidFill>
              <a:srgbClr val="31D7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37760" y="1883664"/>
            <a:ext cx="1389888" cy="274320"/>
          </a:xfrm>
          <a:prstGeom prst="roundRect">
            <a:avLst>
              <a:gd name="adj" fmla="val 50000"/>
            </a:avLst>
          </a:prstGeom>
          <a:solidFill>
            <a:srgbClr val="31D7FF">
              <a:alpha val="15000"/>
            </a:srgbClr>
          </a:solidFill>
          <a:ln w="12700">
            <a:solidFill>
              <a:srgbClr val="31D7FF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10912" y="1901952"/>
            <a:ext cx="12435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31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ADAPTADORES</a:t>
            </a:r>
            <a:endParaRPr lang="en-US" sz="82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245059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se agregó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956048" y="3182112"/>
            <a:ext cx="100584" cy="100584"/>
          </a:xfrm>
          <a:prstGeom prst="ellipse">
            <a:avLst/>
          </a:prstGeom>
          <a:solidFill>
            <a:srgbClr val="31D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38928" y="3108960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10144" y="3182112"/>
            <a:ext cx="100584" cy="100584"/>
          </a:xfrm>
          <a:prstGeom prst="ellipse">
            <a:avLst/>
          </a:prstGeom>
          <a:solidFill>
            <a:srgbClr val="31D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93024" y="3108960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56048" y="3685032"/>
            <a:ext cx="100584" cy="100584"/>
          </a:xfrm>
          <a:prstGeom prst="ellipse">
            <a:avLst/>
          </a:prstGeom>
          <a:solidFill>
            <a:srgbClr val="31D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38928" y="3611880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10144" y="3685032"/>
            <a:ext cx="100584" cy="100584"/>
          </a:xfrm>
          <a:prstGeom prst="ellipse">
            <a:avLst/>
          </a:prstGeom>
          <a:solidFill>
            <a:srgbClr val="31D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193024" y="3611880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56048" y="4187952"/>
            <a:ext cx="100584" cy="100584"/>
          </a:xfrm>
          <a:prstGeom prst="ellipse">
            <a:avLst/>
          </a:prstGeom>
          <a:solidFill>
            <a:srgbClr val="31D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138928" y="4114800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10144" y="4187952"/>
            <a:ext cx="100584" cy="100584"/>
          </a:xfrm>
          <a:prstGeom prst="ellipse">
            <a:avLst/>
          </a:prstGeom>
          <a:solidFill>
            <a:srgbClr val="31D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193024" y="4114800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56048" y="4690872"/>
            <a:ext cx="100584" cy="100584"/>
          </a:xfrm>
          <a:prstGeom prst="ellipse">
            <a:avLst/>
          </a:prstGeom>
          <a:solidFill>
            <a:srgbClr val="31D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138928" y="4617720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010144" y="4690872"/>
            <a:ext cx="100584" cy="100584"/>
          </a:xfrm>
          <a:prstGeom prst="ellipse">
            <a:avLst/>
          </a:prstGeom>
          <a:solidFill>
            <a:srgbClr val="8A5C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193024" y="4617720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Bedrock AI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2267712" y="5943600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1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RegisterSale no sabe si persiste en SQLite o PostgreSQL.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1D7FF"/>
          </a:solidFill>
          <a:ln w="12700">
            <a:solidFill>
              <a:srgbClr val="31D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140" dirty="0">
                <a:solidFill>
                  <a:srgbClr val="72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 AI-FIRST · HACKATHON 2026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458200" y="647395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kern="0" spc="120" dirty="0">
                <a:solidFill>
                  <a:srgbClr val="72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KIRO × CÓDIGO FACILITO</a:t>
            </a:r>
            <a:endParaRPr lang="en-US" sz="68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1089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31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 · COSTO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5836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 efectivo el primer año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85216" y="12618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free tier cubre el MVP.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13232" y="1572768"/>
            <a:ext cx="3246120" cy="1353312"/>
          </a:xfrm>
          <a:prstGeom prst="roundRect">
            <a:avLst>
              <a:gd name="adj" fmla="val 10811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77824" y="1737360"/>
            <a:ext cx="2916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55E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2258568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primer año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43984" y="1572768"/>
            <a:ext cx="3246120" cy="1353312"/>
          </a:xfrm>
          <a:prstGeom prst="roundRect">
            <a:avLst>
              <a:gd name="adj" fmla="val 10811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08576" y="1737360"/>
            <a:ext cx="2916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31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1M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4608576" y="2258568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requests Lambda / mes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74736" y="1572768"/>
            <a:ext cx="3246120" cy="1353312"/>
          </a:xfrm>
          <a:prstGeom prst="roundRect">
            <a:avLst>
              <a:gd name="adj" fmla="val 10811"/>
            </a:avLst>
          </a:prstGeom>
          <a:solidFill>
            <a:srgbClr val="0E1B2E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39328" y="1737360"/>
            <a:ext cx="2916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8A5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≈50 min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8339328" y="2258568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restante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31012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Lambda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343400" y="331012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5E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 free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33101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~$0.20 / 1M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68680" y="3648456"/>
            <a:ext cx="9912096" cy="0"/>
          </a:xfrm>
          <a:prstGeom prst="line">
            <a:avLst/>
          </a:prstGeom>
          <a:noFill/>
          <a:ln w="8890">
            <a:solidFill>
              <a:srgbClr val="20354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378561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RDS PostgreSQL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343400" y="378561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5E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meses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589520" y="378561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~$13 / 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68680" y="4123944"/>
            <a:ext cx="9912096" cy="0"/>
          </a:xfrm>
          <a:prstGeom prst="line">
            <a:avLst/>
          </a:prstGeom>
          <a:noFill/>
          <a:ln w="8890">
            <a:solidFill>
              <a:srgbClr val="20354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" y="426110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Bedrock Haiku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343400" y="426110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5E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$200 créditos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589520" y="426110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~$2 / 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68680" y="4599432"/>
            <a:ext cx="9912096" cy="0"/>
          </a:xfrm>
          <a:prstGeom prst="line">
            <a:avLst/>
          </a:prstGeom>
          <a:noFill/>
          <a:ln w="8890">
            <a:solidFill>
              <a:srgbClr val="20354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14400" y="473659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S3 + CloudFront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343400" y="473659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5E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5GB + 1TB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589520" y="47365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~$1 / 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68680" y="5074920"/>
            <a:ext cx="9912096" cy="0"/>
          </a:xfrm>
          <a:prstGeom prst="line">
            <a:avLst/>
          </a:prstGeom>
          <a:noFill/>
          <a:ln w="8890">
            <a:solidFill>
              <a:srgbClr val="20354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14400" y="521208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Secrets Manager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343400" y="52120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5E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secrets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589520" y="521208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~$1.60 / mes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68680" y="5550408"/>
            <a:ext cx="9912096" cy="0"/>
          </a:xfrm>
          <a:prstGeom prst="line">
            <a:avLst/>
          </a:prstGeom>
          <a:noFill/>
          <a:ln w="8890">
            <a:solidFill>
              <a:srgbClr val="20354E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1D7FF"/>
          </a:solidFill>
          <a:ln w="12700">
            <a:solidFill>
              <a:srgbClr val="31D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140" dirty="0">
                <a:solidFill>
                  <a:srgbClr val="72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 AI-FIRST · HACKATHON 2026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458200" y="647395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kern="0" spc="120" dirty="0">
                <a:solidFill>
                  <a:srgbClr val="7282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KIRO × CÓDIGO FACILITO</a:t>
            </a:r>
            <a:endParaRPr lang="en-US" sz="68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1089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31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· ROADMAP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5836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MVP ya probó el concepto. Ahora toca escalar.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87552" y="3108960"/>
            <a:ext cx="10094976" cy="0"/>
          </a:xfrm>
          <a:prstGeom prst="line">
            <a:avLst/>
          </a:prstGeom>
          <a:noFill/>
          <a:ln w="21590">
            <a:solidFill>
              <a:srgbClr val="A7B3C7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737360" y="2907792"/>
            <a:ext cx="384048" cy="384048"/>
          </a:xfrm>
          <a:prstGeom prst="ellipse">
            <a:avLst/>
          </a:prstGeom>
          <a:solidFill>
            <a:srgbClr val="55E6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1993392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120" dirty="0">
                <a:solidFill>
                  <a:srgbClr val="55E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AHORA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370332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LOCAL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416052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36008" y="2907792"/>
            <a:ext cx="384048" cy="384048"/>
          </a:xfrm>
          <a:prstGeom prst="ellipse">
            <a:avLst/>
          </a:prstGeom>
          <a:solidFill>
            <a:srgbClr val="31D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57016" y="1993392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120" dirty="0">
                <a:solidFill>
                  <a:srgbClr val="31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MAÑANA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3557016" y="370332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DEPLOY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557016" y="416052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 deploy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34656" y="2907792"/>
            <a:ext cx="384048" cy="384048"/>
          </a:xfrm>
          <a:prstGeom prst="ellipse">
            <a:avLst/>
          </a:prstGeom>
          <a:solidFill>
            <a:srgbClr val="8A5C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55664" y="1993392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120" dirty="0">
                <a:solidFill>
                  <a:srgbClr val="8A5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1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455664" y="370332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DEMO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55664" y="416052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RDS + Bedrock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433304" y="2907792"/>
            <a:ext cx="384048" cy="38404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354312" y="1993392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120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FUTURO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9354312" y="370332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ADVANCED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354312" y="416052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Predicción + multi-sucursal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904488" y="5394960"/>
            <a:ext cx="4370832" cy="274320"/>
          </a:xfrm>
          <a:prstGeom prst="roundRect">
            <a:avLst>
              <a:gd name="adj" fmla="val 50000"/>
            </a:avLst>
          </a:prstGeom>
          <a:solidFill>
            <a:srgbClr val="31D7FF">
              <a:alpha val="15000"/>
            </a:srgbClr>
          </a:solidFill>
          <a:ln w="12700">
            <a:solidFill>
              <a:srgbClr val="31D7FF">
                <a:alpha val="5500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977640" y="5413248"/>
            <a:ext cx="4224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31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VELOCIDAD SIN SACRIFICAR CALIDAD</a:t>
            </a:r>
            <a:endParaRPr lang="en-US" sz="8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02-A\code\tuts\inbox\assets\pos-ai-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6720840" cy="6858000"/>
          </a:xfrm>
          <a:prstGeom prst="rect">
            <a:avLst/>
          </a:prstGeom>
          <a:solidFill>
            <a:srgbClr val="07111F">
              <a:alpha val="9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58368" y="694944"/>
            <a:ext cx="414772" cy="414772"/>
          </a:xfrm>
          <a:prstGeom prst="ellipse">
            <a:avLst/>
          </a:prstGeom>
          <a:solidFill>
            <a:srgbClr val="31D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57123" y="882579"/>
            <a:ext cx="217261" cy="0"/>
          </a:xfrm>
          <a:prstGeom prst="line">
            <a:avLst/>
          </a:prstGeom>
          <a:noFill/>
          <a:ln w="27432">
            <a:solidFill>
              <a:srgbClr val="10182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52144" y="685068"/>
            <a:ext cx="1599834" cy="414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4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facilito</a:t>
            </a:r>
            <a:endParaRPr lang="en-US" sz="1404" dirty="0"/>
          </a:p>
        </p:txBody>
      </p:sp>
      <p:sp>
        <p:nvSpPr>
          <p:cNvPr id="8" name="Text 5"/>
          <p:cNvSpPr txBox="1"/>
          <p:nvPr/>
        </p:nvSpPr>
        <p:spPr>
          <a:xfrm>
            <a:off x="2850733" y="724571"/>
            <a:ext cx="256764" cy="335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12" b="1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512" dirty="0"/>
          </a:p>
        </p:txBody>
      </p:sp>
      <p:sp>
        <p:nvSpPr>
          <p:cNvPr id="9" name="Shape 6"/>
          <p:cNvSpPr/>
          <p:nvPr/>
        </p:nvSpPr>
        <p:spPr>
          <a:xfrm>
            <a:off x="3196377" y="694944"/>
            <a:ext cx="414772" cy="414772"/>
          </a:xfrm>
          <a:prstGeom prst="roundRect">
            <a:avLst>
              <a:gd name="adj" fmla="val 26455"/>
            </a:avLst>
          </a:prstGeom>
          <a:solidFill>
            <a:srgbClr val="8A5C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95132" y="803575"/>
            <a:ext cx="69129" cy="6912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53140" y="803575"/>
            <a:ext cx="69129" cy="6912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719779" y="685068"/>
            <a:ext cx="711037" cy="414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12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kiro</a:t>
            </a:r>
            <a:endParaRPr lang="en-US" sz="1512" dirty="0"/>
          </a:p>
        </p:txBody>
      </p:sp>
      <p:sp>
        <p:nvSpPr>
          <p:cNvPr id="13" name="Text 10"/>
          <p:cNvSpPr txBox="1"/>
          <p:nvPr/>
        </p:nvSpPr>
        <p:spPr>
          <a:xfrm>
            <a:off x="658368" y="1618488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Gracias.</a:t>
            </a:r>
            <a:endParaRPr lang="en-US" sz="39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235915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31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¿Preguntas?</a:t>
            </a:r>
            <a:endParaRPr lang="en-US" sz="31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32186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 AI-First MVP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360273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2026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85800" y="4800600"/>
            <a:ext cx="4443984" cy="658368"/>
          </a:xfrm>
          <a:prstGeom prst="roundRect">
            <a:avLst>
              <a:gd name="adj" fmla="val 22222"/>
            </a:avLst>
          </a:prstGeom>
          <a:solidFill>
            <a:srgbClr val="0C1A2A"/>
          </a:solidFill>
          <a:ln w="12700">
            <a:solidFill>
              <a:srgbClr val="8A5C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32688" y="499262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kern="0" spc="1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/ CONTACTO / QR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1234</Words>
  <Application>Microsoft Office PowerPoint</Application>
  <PresentationFormat>Panorámica</PresentationFormat>
  <Paragraphs>422</Paragraphs>
  <Slides>22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6" baseType="lpstr">
      <vt:lpstr>Aptos</vt:lpstr>
      <vt:lpstr>Arial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Código Facilito × Kiro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 AI-First MVP — Tu negocio responde preguntas</dc:title>
  <dc:subject>Bootcamp Kiro × Código Facilito — Hackathon 2026</dc:subject>
  <dc:creator>POS AI-First Hackathon</dc:creator>
  <cp:lastModifiedBy>Gabriel M</cp:lastModifiedBy>
  <cp:revision>1</cp:revision>
  <dcterms:created xsi:type="dcterms:W3CDTF">2026-07-24T04:52:42Z</dcterms:created>
  <dcterms:modified xsi:type="dcterms:W3CDTF">2026-07-24T04:55:29Z</dcterms:modified>
</cp:coreProperties>
</file>